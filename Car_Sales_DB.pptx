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754" y="1016955"/>
            <a:ext cx="6855716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7222" y="4869030"/>
            <a:ext cx="5364023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5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1" y="6492240"/>
            <a:ext cx="643651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31" y="6477000"/>
            <a:ext cx="14144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4" y="6492241"/>
            <a:ext cx="492916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6832531" y="6155911"/>
            <a:ext cx="231146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2600809" y="6155911"/>
            <a:ext cx="4231717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975875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9" y="1016956"/>
            <a:ext cx="83439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7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48" y="1748474"/>
            <a:ext cx="83439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475523" y="565606"/>
            <a:ext cx="866847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3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050" y="4572000"/>
            <a:ext cx="83439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50" y="5715000"/>
            <a:ext cx="83439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5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9143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0050" y="6477001"/>
            <a:ext cx="643247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832527" y="6477000"/>
            <a:ext cx="141041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246982" y="6477001"/>
            <a:ext cx="49696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03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9553" y="1016956"/>
            <a:ext cx="2904398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75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9553" y="5134926"/>
            <a:ext cx="2901315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5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418071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5953" y="6477000"/>
            <a:ext cx="1421885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43801" y="6477000"/>
            <a:ext cx="70319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4" y="6477001"/>
            <a:ext cx="49291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866847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325658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0050" y="1143000"/>
            <a:ext cx="6432477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0"/>
            <a:ext cx="643247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31" y="6492240"/>
            <a:ext cx="141850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3" y="6492240"/>
            <a:ext cx="49291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475522" y="570038"/>
            <a:ext cx="6357005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6832527" y="570038"/>
            <a:ext cx="2311473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534607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6832526" y="0"/>
            <a:ext cx="231147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49" y="1016955"/>
            <a:ext cx="6146735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0049" y="2510473"/>
            <a:ext cx="6142872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1pPr>
            <a:lvl2pPr marL="51435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2pPr>
            <a:lvl3pPr marL="600075" indent="-257175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3pPr>
            <a:lvl4pPr marL="771525" indent="-257175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4pPr>
            <a:lvl5pPr marL="942975" indent="-257175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49" y="6492241"/>
            <a:ext cx="431886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8914" y="6492240"/>
            <a:ext cx="1322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45953" y="6492241"/>
            <a:ext cx="49696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475522" y="2144715"/>
            <a:ext cx="6357005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086368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7638" y="1386842"/>
            <a:ext cx="4736312" cy="1127758"/>
          </a:xfrm>
        </p:spPr>
        <p:txBody>
          <a:bodyPr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330041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07638" y="2886090"/>
            <a:ext cx="473631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1pPr>
            <a:lvl2pPr marL="428625" indent="-257175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2pPr>
            <a:lvl3pPr marL="600075" indent="-257175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3pPr>
            <a:lvl4pPr marL="771525" indent="-257175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7639" y="6477001"/>
            <a:ext cx="2828929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616" y="6477001"/>
            <a:ext cx="1406370" cy="381001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6989" y="6477001"/>
            <a:ext cx="496961" cy="381001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3300415" y="2496190"/>
            <a:ext cx="584358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999956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1016955"/>
            <a:ext cx="2618654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7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1895" y="1016956"/>
            <a:ext cx="5022055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77001"/>
            <a:ext cx="6432478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77001"/>
            <a:ext cx="1418504" cy="381001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0" y="6477001"/>
            <a:ext cx="492920" cy="381001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3018703" y="570037"/>
            <a:ext cx="6125297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475523" y="570037"/>
            <a:ext cx="2543181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432822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9" y="1016956"/>
            <a:ext cx="2614615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7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1894" y="1016955"/>
            <a:ext cx="5022056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77001"/>
            <a:ext cx="6432478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77001"/>
            <a:ext cx="1418504" cy="381001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0" y="6477001"/>
            <a:ext cx="492920" cy="381001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3012982" y="565607"/>
            <a:ext cx="6131018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475523" y="570037"/>
            <a:ext cx="2543181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210056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1892" y="1016956"/>
            <a:ext cx="502205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300416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21892" y="2145669"/>
            <a:ext cx="5017419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723077" y="6477000"/>
            <a:ext cx="3530929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54010" y="6477000"/>
            <a:ext cx="997024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251035" y="6477000"/>
            <a:ext cx="49291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3306171" y="570993"/>
            <a:ext cx="5356548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1712" y="570991"/>
            <a:ext cx="330788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12992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123" y="1016955"/>
            <a:ext cx="5269828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2998600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4126" y="2145669"/>
            <a:ext cx="5269824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474126" y="6477000"/>
            <a:ext cx="406967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543803" y="6477000"/>
            <a:ext cx="707228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251030" y="6477000"/>
            <a:ext cx="4929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301466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2997927" y="570992"/>
            <a:ext cx="567054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00948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1" y="1016956"/>
            <a:ext cx="51435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0051" y="2145668"/>
            <a:ext cx="51435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0051" y="6464300"/>
            <a:ext cx="4025036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425087" y="6464300"/>
            <a:ext cx="696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22068" y="6464300"/>
            <a:ext cx="42148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45400" y="1"/>
            <a:ext cx="2998600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6129335" y="570992"/>
            <a:ext cx="301466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474853" y="570992"/>
            <a:ext cx="567054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952449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1" y="1016955"/>
            <a:ext cx="3430079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7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0051" y="2495233"/>
            <a:ext cx="3430079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77000"/>
            <a:ext cx="219116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1210" y="6477000"/>
            <a:ext cx="8257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14984" y="6477000"/>
            <a:ext cx="41419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4196" y="0"/>
            <a:ext cx="489980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473554" y="570990"/>
            <a:ext cx="3768671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186583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956" y="1016955"/>
            <a:ext cx="2584452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7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0050" y="2495233"/>
            <a:ext cx="2584452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0050" y="6477000"/>
            <a:ext cx="155758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957633" y="6477000"/>
            <a:ext cx="71232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669958" y="6477000"/>
            <a:ext cx="321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52234" y="0"/>
            <a:ext cx="5688108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461773" y="570989"/>
            <a:ext cx="299046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167445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6046" y="1016956"/>
            <a:ext cx="2077904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244742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66791" y="3011335"/>
            <a:ext cx="2077158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171450" indent="0">
              <a:buNone/>
              <a:defRPr lang="en-US" dirty="0">
                <a:solidFill>
                  <a:schemeClr val="tx2"/>
                </a:solidFill>
              </a:defRPr>
            </a:lvl2pPr>
            <a:lvl3pPr marL="342900" indent="0">
              <a:buNone/>
              <a:defRPr lang="en-US" dirty="0">
                <a:solidFill>
                  <a:schemeClr val="tx2"/>
                </a:solidFill>
              </a:defRPr>
            </a:lvl3pPr>
            <a:lvl4pPr marL="514350" indent="0">
              <a:buNone/>
              <a:defRPr lang="en-US" dirty="0">
                <a:solidFill>
                  <a:schemeClr val="tx2"/>
                </a:solidFill>
              </a:defRPr>
            </a:lvl4pPr>
            <a:lvl5pPr marL="6858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66046" y="6477000"/>
            <a:ext cx="105334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9392" y="6477000"/>
            <a:ext cx="53164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5" y="6477000"/>
            <a:ext cx="49291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6244742" y="570989"/>
            <a:ext cx="2499208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6409067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3623949"/>
            <a:ext cx="2614614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7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"/>
            <a:ext cx="9144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04452" y="3623949"/>
            <a:ext cx="5439498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171450" indent="0">
              <a:buNone/>
              <a:defRPr lang="en-US" dirty="0">
                <a:solidFill>
                  <a:schemeClr val="tx2"/>
                </a:solidFill>
              </a:defRPr>
            </a:lvl2pPr>
            <a:lvl3pPr marL="342900" indent="0">
              <a:buNone/>
              <a:defRPr lang="en-US" dirty="0">
                <a:solidFill>
                  <a:schemeClr val="tx2"/>
                </a:solidFill>
              </a:defRPr>
            </a:lvl3pPr>
            <a:lvl4pPr marL="514350" indent="0">
              <a:buNone/>
              <a:defRPr lang="en-US" dirty="0">
                <a:solidFill>
                  <a:schemeClr val="tx2"/>
                </a:solidFill>
              </a:defRPr>
            </a:lvl4pPr>
            <a:lvl5pPr marL="6858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77001"/>
            <a:ext cx="643247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77000"/>
            <a:ext cx="141850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0" y="6477001"/>
            <a:ext cx="492920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29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1" y="1016956"/>
            <a:ext cx="83438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9"/>
            <a:ext cx="4718909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171450" lvl="0" indent="-17145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32322" y="2145669"/>
            <a:ext cx="3611629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32322" y="6492240"/>
            <a:ext cx="241147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543798" y="6492240"/>
            <a:ext cx="7072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251035" y="6492240"/>
            <a:ext cx="49291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475523" y="565606"/>
            <a:ext cx="866847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5579329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1016956"/>
            <a:ext cx="2614615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7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5523" y="2495234"/>
            <a:ext cx="2539138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32107" y="1016954"/>
            <a:ext cx="5311843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77001"/>
            <a:ext cx="643247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77000"/>
            <a:ext cx="141850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0" y="6477001"/>
            <a:ext cx="492920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475523" y="565606"/>
            <a:ext cx="253914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3014661" y="565605"/>
            <a:ext cx="612934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582300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221" y="5109525"/>
            <a:ext cx="6146729" cy="744634"/>
          </a:xfrm>
        </p:spPr>
        <p:txBody>
          <a:bodyPr anchor="b">
            <a:normAutofit/>
          </a:bodyPr>
          <a:lstStyle>
            <a:lvl1pPr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00050" y="533401"/>
            <a:ext cx="8343900" cy="4576763"/>
          </a:xfrm>
        </p:spPr>
        <p:txBody>
          <a:bodyPr>
            <a:normAutofit/>
          </a:bodyPr>
          <a:lstStyle>
            <a:lvl1pPr marL="0" indent="0">
              <a:buNone/>
              <a:defRPr sz="22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77001"/>
            <a:ext cx="643247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77000"/>
            <a:ext cx="141041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6982" y="6492241"/>
            <a:ext cx="49696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6832531" y="6155911"/>
            <a:ext cx="231146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2600809" y="6155911"/>
            <a:ext cx="4231717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319807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1133856"/>
            <a:ext cx="798957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0050" y="1016956"/>
            <a:ext cx="83439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54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71450" indent="0">
              <a:lnSpc>
                <a:spcPct val="90000"/>
              </a:lnSpc>
              <a:spcBef>
                <a:spcPts val="0"/>
              </a:spcBef>
              <a:buNone/>
              <a:defRPr sz="54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42900" indent="0">
              <a:lnSpc>
                <a:spcPct val="90000"/>
              </a:lnSpc>
              <a:spcBef>
                <a:spcPts val="0"/>
              </a:spcBef>
              <a:buNone/>
              <a:defRPr sz="54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514350" indent="0">
              <a:lnSpc>
                <a:spcPct val="90000"/>
              </a:lnSpc>
              <a:spcBef>
                <a:spcPts val="0"/>
              </a:spcBef>
              <a:buNone/>
              <a:defRPr sz="54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85800" indent="0">
              <a:lnSpc>
                <a:spcPct val="90000"/>
              </a:lnSpc>
              <a:spcBef>
                <a:spcPts val="0"/>
              </a:spcBef>
              <a:buNone/>
              <a:defRPr sz="54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41850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6982" y="6492241"/>
            <a:ext cx="49696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6832531" y="6155911"/>
            <a:ext cx="231146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2600809" y="6155911"/>
            <a:ext cx="4231717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240599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0809" y="5216204"/>
            <a:ext cx="6143141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5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0049" y="1016955"/>
            <a:ext cx="83439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23444" indent="-123444">
              <a:lnSpc>
                <a:spcPct val="90000"/>
              </a:lnSpc>
              <a:spcBef>
                <a:spcPts val="0"/>
              </a:spcBef>
              <a:buNone/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409221" cy="365760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27" y="6492241"/>
            <a:ext cx="492923" cy="365760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6832531" y="6155911"/>
            <a:ext cx="231146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2600809" y="6155911"/>
            <a:ext cx="4231717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9791825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9" y="1016956"/>
            <a:ext cx="83439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0049" y="1883248"/>
            <a:ext cx="3806429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37282" y="1883248"/>
            <a:ext cx="3806667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418504" cy="365760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6982" y="6492240"/>
            <a:ext cx="496968" cy="365761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475522" y="570038"/>
            <a:ext cx="6357005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6832527" y="570038"/>
            <a:ext cx="2311473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4455153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9" y="1016955"/>
            <a:ext cx="83439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049" y="1883249"/>
            <a:ext cx="380619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0049" y="2444434"/>
            <a:ext cx="3806429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37759" y="1883248"/>
            <a:ext cx="380619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37282" y="2444434"/>
            <a:ext cx="3806667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418504" cy="365760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0" y="6492241"/>
            <a:ext cx="492920" cy="365760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475522" y="570038"/>
            <a:ext cx="6357005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6832527" y="570038"/>
            <a:ext cx="2311473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5032659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9" y="1016956"/>
            <a:ext cx="83439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41850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6982" y="6492241"/>
            <a:ext cx="49696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475522" y="570038"/>
            <a:ext cx="6357005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6832527" y="570038"/>
            <a:ext cx="2311473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0910875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418504" cy="365760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0" y="6492241"/>
            <a:ext cx="492920" cy="365760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275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9" y="1016956"/>
            <a:ext cx="83439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0049" y="3258190"/>
            <a:ext cx="83439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171450" indent="0">
              <a:buNone/>
              <a:defRPr>
                <a:solidFill>
                  <a:schemeClr val="tx2"/>
                </a:solidFill>
              </a:defRPr>
            </a:lvl2pPr>
            <a:lvl3pPr marL="342900" indent="0">
              <a:buNone/>
              <a:defRPr>
                <a:solidFill>
                  <a:schemeClr val="tx2"/>
                </a:solidFill>
              </a:defRPr>
            </a:lvl3pPr>
            <a:lvl4pPr marL="514350" indent="0">
              <a:buNone/>
              <a:defRPr>
                <a:solidFill>
                  <a:schemeClr val="tx2"/>
                </a:solidFill>
              </a:defRPr>
            </a:lvl4pPr>
            <a:lvl5pPr marL="685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12871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61242" y="6492241"/>
            <a:ext cx="78270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475522" y="570038"/>
            <a:ext cx="6357005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6832527" y="570038"/>
            <a:ext cx="2311473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522728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1016955"/>
            <a:ext cx="6432477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0050" y="4614992"/>
            <a:ext cx="6432380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71450" indent="0">
              <a:buNone/>
              <a:defRPr sz="15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42900" indent="0">
              <a:buNone/>
              <a:defRPr sz="15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514350" indent="0">
              <a:buNone/>
              <a:defRPr sz="15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85800" indent="0">
              <a:buNone/>
              <a:defRPr sz="15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50" y="6492241"/>
            <a:ext cx="643247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2527" y="6492240"/>
            <a:ext cx="141850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1030" y="6492241"/>
            <a:ext cx="49292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475522" y="570038"/>
            <a:ext cx="6357005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6832527" y="570038"/>
            <a:ext cx="2311473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754646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9" y="1016956"/>
            <a:ext cx="83439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048" y="1748474"/>
            <a:ext cx="83439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0050" y="6476999"/>
            <a:ext cx="6432478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2528" y="6476999"/>
            <a:ext cx="1414463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51035" y="6476999"/>
            <a:ext cx="492916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80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  <p:sldLayoutId id="2147483745" r:id="rId20"/>
    <p:sldLayoutId id="2147483746" r:id="rId21"/>
    <p:sldLayoutId id="2147483747" r:id="rId22"/>
    <p:sldLayoutId id="2147483748" r:id="rId23"/>
    <p:sldLayoutId id="2147483749" r:id="rId24"/>
    <p:sldLayoutId id="2147483750" r:id="rId25"/>
    <p:sldLayoutId id="2147483751" r:id="rId26"/>
    <p:sldLayoutId id="2147483752" r:id="rId27"/>
  </p:sldLayoutIdLst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27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34290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68580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5464" y="960387"/>
            <a:ext cx="8074741" cy="1470025"/>
          </a:xfrm>
        </p:spPr>
        <p:txBody>
          <a:bodyPr/>
          <a:lstStyle/>
          <a:p>
            <a:r>
              <a:rPr sz="4400" dirty="0"/>
              <a:t>Car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2989006"/>
            <a:ext cx="6620968" cy="1037303"/>
          </a:xfrm>
        </p:spPr>
        <p:txBody>
          <a:bodyPr>
            <a:normAutofit/>
          </a:bodyPr>
          <a:lstStyle/>
          <a:p>
            <a:r>
              <a:rPr sz="2400" dirty="0"/>
              <a:t>Task 4: Dashboard Design</a:t>
            </a:r>
          </a:p>
          <a:p>
            <a:r>
              <a:rPr sz="2400" dirty="0"/>
              <a:t>Prepared by: </a:t>
            </a:r>
            <a:r>
              <a:rPr lang="en-IN" sz="2400" dirty="0"/>
              <a:t>Suhana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764458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  </a:t>
            </a:r>
            <a:r>
              <a:rPr sz="3200" dirty="0"/>
              <a:t>Objective</a:t>
            </a:r>
            <a:br>
              <a:rPr lang="en-IN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60149" y="1907458"/>
            <a:ext cx="6369051" cy="24245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Design an interactive dashboard using Power BI.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/>
              <a:t>Analyze</a:t>
            </a:r>
            <a:r>
              <a:rPr lang="en-IN" sz="2000" dirty="0"/>
              <a:t> car sales data using KPIs and charts.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Enable users to filter and explore sales information.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Support better business decision-making</a:t>
            </a:r>
          </a:p>
          <a:p>
            <a:pPr>
              <a:lnSpc>
                <a:spcPct val="150000"/>
              </a:lnSpc>
              <a:defRPr sz="2400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198" y="938298"/>
            <a:ext cx="8343901" cy="1112519"/>
          </a:xfrm>
        </p:spPr>
        <p:txBody>
          <a:bodyPr>
            <a:normAutofit/>
          </a:bodyPr>
          <a:lstStyle/>
          <a:p>
            <a:r>
              <a:rPr sz="2800" dirty="0"/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7198" y="1804902"/>
            <a:ext cx="3031599" cy="4196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Dataset:</a:t>
            </a:r>
            <a:r>
              <a:rPr lang="en-IN" dirty="0"/>
              <a:t> Car Sales Dataset</a:t>
            </a:r>
          </a:p>
          <a:p>
            <a:pPr>
              <a:lnSpc>
                <a:spcPct val="150000"/>
              </a:lnSpc>
            </a:pPr>
            <a:r>
              <a:rPr lang="en-IN" b="1" dirty="0"/>
              <a:t>Source:</a:t>
            </a:r>
            <a:r>
              <a:rPr lang="en-IN" dirty="0"/>
              <a:t> Kaggle</a:t>
            </a:r>
          </a:p>
          <a:p>
            <a:pPr>
              <a:lnSpc>
                <a:spcPct val="150000"/>
              </a:lnSpc>
            </a:pPr>
            <a:r>
              <a:rPr lang="en-IN" b="1" dirty="0"/>
              <a:t>Attributes Used: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Selling Price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Make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Year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State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Color</a:t>
            </a:r>
            <a:r>
              <a:rPr lang="en-IN" dirty="0"/>
              <a:t>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VIN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Odometer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371" y="1016956"/>
            <a:ext cx="8343901" cy="1112519"/>
          </a:xfrm>
        </p:spPr>
        <p:txBody>
          <a:bodyPr/>
          <a:lstStyle/>
          <a:p>
            <a:r>
              <a:rPr dirty="0"/>
              <a:t>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4371" y="1873728"/>
            <a:ext cx="8439170" cy="29546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Key Performance Indicators (KPIs)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💰 Total Selling Price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🚗 Total Cars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📈 Average Selling Price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🛣 Average Odometer </a:t>
            </a:r>
          </a:p>
          <a:p>
            <a:pPr>
              <a:lnSpc>
                <a:spcPct val="150000"/>
              </a:lnSpc>
            </a:pPr>
            <a:r>
              <a:rPr lang="en-IN" b="1" dirty="0"/>
              <a:t>Purpose:</a:t>
            </a:r>
            <a:r>
              <a:rPr lang="en-IN" dirty="0"/>
              <a:t> These KPIs provide a quick overview of the overall sales performance.</a:t>
            </a:r>
          </a:p>
          <a:p>
            <a:pPr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5210" y="2320467"/>
            <a:ext cx="4902364" cy="2435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/>
            </a:pPr>
            <a:r>
              <a:rPr dirty="0"/>
              <a:t>• </a:t>
            </a:r>
            <a:r>
              <a:rPr sz="2000" b="1" dirty="0"/>
              <a:t>Bar Chart</a:t>
            </a:r>
            <a:r>
              <a:rPr sz="2000" dirty="0"/>
              <a:t>: Sales by Make</a:t>
            </a:r>
            <a:br>
              <a:rPr sz="2000" dirty="0"/>
            </a:br>
            <a:r>
              <a:rPr sz="2000" dirty="0"/>
              <a:t>• </a:t>
            </a:r>
            <a:r>
              <a:rPr sz="2000" b="1" dirty="0"/>
              <a:t>Donut Chart</a:t>
            </a:r>
            <a:r>
              <a:rPr sz="2000" dirty="0"/>
              <a:t>: Cars by Colors</a:t>
            </a:r>
            <a:br>
              <a:rPr sz="2000" dirty="0"/>
            </a:br>
            <a:r>
              <a:rPr sz="2000" dirty="0"/>
              <a:t>• </a:t>
            </a:r>
            <a:r>
              <a:rPr sz="2000" b="1" dirty="0"/>
              <a:t>Line Chart: </a:t>
            </a:r>
            <a:r>
              <a:rPr sz="2000" dirty="0"/>
              <a:t>Sales Trend</a:t>
            </a:r>
            <a:br>
              <a:rPr sz="2000" dirty="0"/>
            </a:br>
            <a:r>
              <a:rPr sz="2000" dirty="0"/>
              <a:t>• </a:t>
            </a:r>
            <a:r>
              <a:rPr sz="2000" b="1" dirty="0"/>
              <a:t>Column Chart: </a:t>
            </a:r>
            <a:r>
              <a:rPr sz="2000" dirty="0"/>
              <a:t>Sales by State</a:t>
            </a:r>
            <a:br>
              <a:rPr sz="2000" dirty="0"/>
            </a:br>
            <a:r>
              <a:rPr sz="2000" dirty="0"/>
              <a:t>• </a:t>
            </a:r>
            <a:r>
              <a:rPr sz="2000" b="1" dirty="0"/>
              <a:t>Slicer: </a:t>
            </a:r>
            <a:r>
              <a:rPr sz="2000" dirty="0"/>
              <a:t>Filter by Make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532" y="913555"/>
            <a:ext cx="8343901" cy="1112519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532" y="2412445"/>
            <a:ext cx="7460697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The Power BI dashboard provides an interactive view</a:t>
            </a:r>
            <a:endParaRPr lang="en-US" dirty="0"/>
          </a:p>
          <a:p>
            <a:pPr>
              <a:defRPr sz="2400"/>
            </a:pPr>
            <a:r>
              <a:rPr lang="en-US" dirty="0"/>
              <a:t>of car sales performance and helps users analyze </a:t>
            </a:r>
          </a:p>
          <a:p>
            <a:pPr>
              <a:defRPr sz="2400"/>
            </a:pPr>
            <a:r>
              <a:rPr dirty="0"/>
              <a:t>trends and make better business decisions.</a:t>
            </a:r>
            <a:endParaRPr lang="en-IN" dirty="0"/>
          </a:p>
          <a:p>
            <a:pPr>
              <a:defRPr sz="2400"/>
            </a:pPr>
            <a:br>
              <a:rPr dirty="0"/>
            </a:br>
            <a:br>
              <a:rPr dirty="0"/>
            </a:br>
            <a:endParaRPr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EEE42-5F86-A5FC-524B-1454FD77B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6780" y="2550787"/>
            <a:ext cx="6855716" cy="2099871"/>
          </a:xfrm>
        </p:spPr>
        <p:txBody>
          <a:bodyPr/>
          <a:lstStyle/>
          <a:p>
            <a:r>
              <a:rPr lang="en-IN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25621249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21</TotalTime>
  <Words>167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Modulo</vt:lpstr>
      <vt:lpstr>Car Sales Dashboard</vt:lpstr>
      <vt:lpstr>  Objective </vt:lpstr>
      <vt:lpstr>Dataset</vt:lpstr>
      <vt:lpstr>KPIs</vt:lpstr>
      <vt:lpstr>Visualizations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suhana</dc:creator>
  <cp:keywords/>
  <dc:description>generated using python-pptx</dc:description>
  <cp:lastModifiedBy>suhanabagwan88@gmail.com</cp:lastModifiedBy>
  <cp:revision>2</cp:revision>
  <dcterms:created xsi:type="dcterms:W3CDTF">2013-01-27T09:14:16Z</dcterms:created>
  <dcterms:modified xsi:type="dcterms:W3CDTF">2026-08-03T20:04:37Z</dcterms:modified>
  <cp:category/>
</cp:coreProperties>
</file>